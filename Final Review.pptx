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  <p:embeddedFont>
      <p:font typeface="Space Grotesk Semi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B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12648"/>
            <a:ext cx="6578435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B.TECH / DBMS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978396"/>
            <a:ext cx="5968851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400" spc="-81" kern="1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INSURANCE CLAIM</a:t>
            </a:r>
            <a:endParaRPr lang="en-US" sz="5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400" spc="-81" kern="1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PROCESSING &amp;</a:t>
            </a:r>
            <a:endParaRPr lang="en-US" sz="5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400" spc="-81" kern="100" dirty="0">
                <a:solidFill>
                  <a:srgbClr val="19D3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FRAUD INSIGHT</a:t>
            </a:r>
            <a:endParaRPr lang="en-US" sz="5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400" spc="-81" kern="1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PLATFORM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11182" y="3890093"/>
            <a:ext cx="6578435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 Claims • Fraud Insights • Real-Time Processing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11182" y="4409678"/>
            <a:ext cx="1452824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6" name="Text 4"/>
          <p:cNvSpPr/>
          <p:nvPr/>
        </p:nvSpPr>
        <p:spPr>
          <a:xfrm>
            <a:off x="836889" y="4481735"/>
            <a:ext cx="1810995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DBMS PROJECT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68778" y="4409678"/>
            <a:ext cx="3878662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8" name="Text 6"/>
          <p:cNvSpPr/>
          <p:nvPr/>
        </p:nvSpPr>
        <p:spPr>
          <a:xfrm>
            <a:off x="2394485" y="4481735"/>
            <a:ext cx="423683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MICROSERVICES AND POLYGLOT PERSISTENCE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1182" y="4832846"/>
            <a:ext cx="4991471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10" name="Text 8"/>
          <p:cNvSpPr/>
          <p:nvPr/>
        </p:nvSpPr>
        <p:spPr>
          <a:xfrm>
            <a:off x="836889" y="4904903"/>
            <a:ext cx="534964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AUTHENTICATION, FRAUD ANALYSIS AND SEMANTIC SEARCH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11582110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7726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54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Manual processing creates four operational gaps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655068"/>
            <a:ext cx="3620798" cy="38100"/>
          </a:xfrm>
          <a:prstGeom prst="roundRect">
            <a:avLst>
              <a:gd name="adj" fmla="val 49999"/>
            </a:avLst>
          </a:prstGeom>
          <a:solidFill>
            <a:srgbClr val="19D3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960503"/>
            <a:ext cx="5257668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Problems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09585" y="2543076"/>
            <a:ext cx="2476438" cy="1225947"/>
          </a:xfrm>
          <a:prstGeom prst="roundRect">
            <a:avLst>
              <a:gd name="adj" fmla="val 11188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496" y="2604988"/>
            <a:ext cx="523862" cy="5238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5935" y="3319300"/>
            <a:ext cx="2463738" cy="457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Manual and slow claim processing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390815" y="2543076"/>
            <a:ext cx="2476438" cy="1225947"/>
          </a:xfrm>
          <a:prstGeom prst="roundRect">
            <a:avLst>
              <a:gd name="adj" fmla="val 11188"/>
            </a:avLst>
          </a:prstGeom>
          <a:solidFill>
            <a:srgbClr val="102746"/>
          </a:solidFill>
          <a:ln w="6350">
            <a:solidFill>
              <a:srgbClr val="FF9D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726" y="2604988"/>
            <a:ext cx="523862" cy="5238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97165" y="3319300"/>
            <a:ext cx="2463738" cy="457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Difficult fraud-risk assessment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09585" y="4073823"/>
            <a:ext cx="2476438" cy="1454745"/>
          </a:xfrm>
          <a:prstGeom prst="roundRect">
            <a:avLst>
              <a:gd name="adj" fmla="val 9428"/>
            </a:avLst>
          </a:prstGeom>
          <a:solidFill>
            <a:srgbClr val="102746"/>
          </a:solidFill>
          <a:ln w="6350">
            <a:solidFill>
              <a:srgbClr val="9B6C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96" y="4135735"/>
            <a:ext cx="523862" cy="523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5935" y="4850047"/>
            <a:ext cx="2463738" cy="457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Insurance documents difficult to search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3390815" y="4073823"/>
            <a:ext cx="2476438" cy="1454745"/>
          </a:xfrm>
          <a:prstGeom prst="roundRect">
            <a:avLst>
              <a:gd name="adj" fmla="val 9428"/>
            </a:avLst>
          </a:prstGeom>
          <a:solidFill>
            <a:srgbClr val="102746"/>
          </a:solidFill>
          <a:ln w="6350">
            <a:solidFill>
              <a:srgbClr val="36E0A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2726" y="4135735"/>
            <a:ext cx="523862" cy="523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397165" y="4850047"/>
            <a:ext cx="2463738" cy="686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Need for secure access and coordinated services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6324442" y="1933674"/>
            <a:ext cx="5257668" cy="225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324442" y="2285528"/>
            <a:ext cx="5257668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integrated platform combining relational, NoSQL and vector databases with secure APIs and event-driven processing.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6324442" y="3292277"/>
            <a:ext cx="1061019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21" name="Text 15"/>
          <p:cNvSpPr/>
          <p:nvPr/>
        </p:nvSpPr>
        <p:spPr>
          <a:xfrm>
            <a:off x="6450149" y="3364334"/>
            <a:ext cx="141918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JWT/RBAC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7490233" y="3292277"/>
            <a:ext cx="1815261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23" name="Text 17"/>
          <p:cNvSpPr/>
          <p:nvPr/>
        </p:nvSpPr>
        <p:spPr>
          <a:xfrm>
            <a:off x="7615940" y="3364334"/>
            <a:ext cx="217343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CLAIM PROCESSING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410266" y="3292277"/>
            <a:ext cx="1585575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25" name="Text 19"/>
          <p:cNvSpPr/>
          <p:nvPr/>
        </p:nvSpPr>
        <p:spPr>
          <a:xfrm>
            <a:off x="9535973" y="3364334"/>
            <a:ext cx="1943746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FRAUD ANALYSIS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324442" y="3715445"/>
            <a:ext cx="772498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27" name="Text 21"/>
          <p:cNvSpPr/>
          <p:nvPr/>
        </p:nvSpPr>
        <p:spPr>
          <a:xfrm>
            <a:off x="6450149" y="3787502"/>
            <a:ext cx="113066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KAFKA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7201712" y="3715445"/>
            <a:ext cx="1744420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29" name="Text 23"/>
          <p:cNvSpPr/>
          <p:nvPr/>
        </p:nvSpPr>
        <p:spPr>
          <a:xfrm>
            <a:off x="7327419" y="3787502"/>
            <a:ext cx="2102591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9050905" y="3715445"/>
            <a:ext cx="1549163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31" name="Text 25"/>
          <p:cNvSpPr/>
          <p:nvPr/>
        </p:nvSpPr>
        <p:spPr>
          <a:xfrm>
            <a:off x="9176612" y="3787502"/>
            <a:ext cx="1907334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MICROSERVICES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5648"/>
            <a:ext cx="11582110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20726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54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One gateway coordinates five focused services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482253"/>
            <a:ext cx="11582110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Dashboard → API Gateway (8000)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09585" y="2440285"/>
            <a:ext cx="2418000" cy="2784376"/>
          </a:xfrm>
          <a:prstGeom prst="roundRect">
            <a:avLst>
              <a:gd name="adj" fmla="val 5672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8990" y="2651423"/>
            <a:ext cx="419090" cy="419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6346" y="3246608"/>
            <a:ext cx="2104476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DASHBOARD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2278" y="2440285"/>
            <a:ext cx="2418000" cy="2784376"/>
          </a:xfrm>
          <a:prstGeom prst="roundRect">
            <a:avLst>
              <a:gd name="adj" fmla="val 5672"/>
            </a:avLst>
          </a:prstGeom>
          <a:solidFill>
            <a:srgbClr val="102746"/>
          </a:solidFill>
          <a:ln w="6350">
            <a:solidFill>
              <a:srgbClr val="9B6C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683" y="2651423"/>
            <a:ext cx="419090" cy="4191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4163" y="3246608"/>
            <a:ext cx="2414130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GATEWAY (8000)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55070" y="2440285"/>
            <a:ext cx="5527041" cy="2784376"/>
          </a:xfrm>
          <a:prstGeom prst="roundRect">
            <a:avLst>
              <a:gd name="adj" fmla="val 4926"/>
            </a:avLst>
          </a:prstGeom>
          <a:solidFill>
            <a:srgbClr val="102746"/>
          </a:solidFill>
          <a:ln w="6350">
            <a:solidFill>
              <a:srgbClr val="274A7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88416" y="2767183"/>
            <a:ext cx="5393694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MICROSERVICES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88416" y="3101181"/>
            <a:ext cx="2553926" cy="462657"/>
          </a:xfrm>
          <a:prstGeom prst="roundRect">
            <a:avLst>
              <a:gd name="adj" fmla="val 29645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70964" y="3190304"/>
            <a:ext cx="2471378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 Service — 8001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8894738" y="3101181"/>
            <a:ext cx="2554025" cy="462657"/>
          </a:xfrm>
          <a:prstGeom prst="roundRect">
            <a:avLst>
              <a:gd name="adj" fmla="val 29645"/>
            </a:avLst>
          </a:prstGeom>
          <a:solidFill>
            <a:srgbClr val="102746"/>
          </a:solidFill>
          <a:ln w="6350">
            <a:solidFill>
              <a:srgbClr val="36E0A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977286" y="3190304"/>
            <a:ext cx="2471477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Claim Service — 8002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6188416" y="3716139"/>
            <a:ext cx="2553926" cy="760214"/>
          </a:xfrm>
          <a:prstGeom prst="roundRect">
            <a:avLst>
              <a:gd name="adj" fmla="val 18042"/>
            </a:avLst>
          </a:prstGeom>
          <a:solidFill>
            <a:srgbClr val="102746"/>
          </a:solidFill>
          <a:ln w="6350">
            <a:solidFill>
              <a:srgbClr val="FF9D3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70964" y="3805261"/>
            <a:ext cx="2471378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Fraud Service — 8003</a:t>
            </a:r>
            <a:endParaRPr lang="en-US" sz="1650" dirty="0"/>
          </a:p>
        </p:txBody>
      </p:sp>
      <p:sp>
        <p:nvSpPr>
          <p:cNvPr id="19" name="Shape 15"/>
          <p:cNvSpPr/>
          <p:nvPr/>
        </p:nvSpPr>
        <p:spPr>
          <a:xfrm>
            <a:off x="8894738" y="3716139"/>
            <a:ext cx="2554025" cy="760214"/>
          </a:xfrm>
          <a:prstGeom prst="roundRect">
            <a:avLst>
              <a:gd name="adj" fmla="val 18042"/>
            </a:avLst>
          </a:prstGeom>
          <a:solidFill>
            <a:srgbClr val="102746"/>
          </a:solidFill>
          <a:ln w="6350">
            <a:solidFill>
              <a:srgbClr val="9B6C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977286" y="3805261"/>
            <a:ext cx="2388929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Notification Service — 8004</a:t>
            </a:r>
            <a:endParaRPr lang="en-US" sz="1650" dirty="0"/>
          </a:p>
        </p:txBody>
      </p:sp>
      <p:sp>
        <p:nvSpPr>
          <p:cNvPr id="21" name="Shape 17"/>
          <p:cNvSpPr/>
          <p:nvPr/>
        </p:nvSpPr>
        <p:spPr>
          <a:xfrm>
            <a:off x="6188416" y="4628654"/>
            <a:ext cx="5260347" cy="462657"/>
          </a:xfrm>
          <a:prstGeom prst="roundRect">
            <a:avLst>
              <a:gd name="adj" fmla="val 29645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70964" y="4717776"/>
            <a:ext cx="5177799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RAG Service — 8005</a:t>
            </a:r>
            <a:endParaRPr lang="en-US" sz="1650" dirty="0"/>
          </a:p>
        </p:txBody>
      </p:sp>
      <p:sp>
        <p:nvSpPr>
          <p:cNvPr id="23" name="Shape 19"/>
          <p:cNvSpPr/>
          <p:nvPr/>
        </p:nvSpPr>
        <p:spPr>
          <a:xfrm>
            <a:off x="609585" y="5453261"/>
            <a:ext cx="10972526" cy="922139"/>
          </a:xfrm>
          <a:prstGeom prst="roundRect">
            <a:avLst>
              <a:gd name="adj" fmla="val 14874"/>
            </a:avLst>
          </a:prstGeom>
          <a:solidFill>
            <a:srgbClr val="102746"/>
          </a:solidFill>
          <a:ln w="6350">
            <a:solidFill>
              <a:srgbClr val="274A7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2931" y="5589659"/>
            <a:ext cx="10839179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AND INFRASTRUCTURE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42931" y="5923657"/>
            <a:ext cx="1280684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26" name="Text 22"/>
          <p:cNvSpPr/>
          <p:nvPr/>
        </p:nvSpPr>
        <p:spPr>
          <a:xfrm>
            <a:off x="868638" y="5995714"/>
            <a:ext cx="1638854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2128387" y="5923657"/>
            <a:ext cx="1081656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28" name="Text 24"/>
          <p:cNvSpPr/>
          <p:nvPr/>
        </p:nvSpPr>
        <p:spPr>
          <a:xfrm>
            <a:off x="2254094" y="5995714"/>
            <a:ext cx="1439826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MONGODB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3314816" y="5923657"/>
            <a:ext cx="772498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30" name="Text 26"/>
          <p:cNvSpPr/>
          <p:nvPr/>
        </p:nvSpPr>
        <p:spPr>
          <a:xfrm>
            <a:off x="3440523" y="5995714"/>
            <a:ext cx="113066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KAFKA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192086" y="5923657"/>
            <a:ext cx="2029270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32" name="Text 28"/>
          <p:cNvSpPr/>
          <p:nvPr/>
        </p:nvSpPr>
        <p:spPr>
          <a:xfrm>
            <a:off x="4317793" y="5995714"/>
            <a:ext cx="2387441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QDRANT + FASTEMBED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326128" y="5923657"/>
            <a:ext cx="1709199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34" name="Text 30"/>
          <p:cNvSpPr/>
          <p:nvPr/>
        </p:nvSpPr>
        <p:spPr>
          <a:xfrm>
            <a:off x="6451835" y="5995714"/>
            <a:ext cx="206736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COMPOSE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84048"/>
            <a:ext cx="11582110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DATABASE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19126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54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Polyglot persistence matches each data need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708374"/>
            <a:ext cx="3454314" cy="1849934"/>
          </a:xfrm>
          <a:prstGeom prst="roundRect">
            <a:avLst>
              <a:gd name="adj" fmla="val 7414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532" y="2837533"/>
            <a:ext cx="3238419" cy="296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00" spc="-33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PostgreSQL — Relational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7532" y="3268190"/>
            <a:ext cx="3238419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Customers, Policies, Claims, Users; primary keys, foreign keys and relationships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4368691" y="2708374"/>
            <a:ext cx="3454314" cy="1849934"/>
          </a:xfrm>
          <a:prstGeom prst="roundRect">
            <a:avLst>
              <a:gd name="adj" fmla="val 7414"/>
            </a:avLst>
          </a:prstGeom>
          <a:solidFill>
            <a:srgbClr val="102746"/>
          </a:solidFill>
          <a:ln w="6350">
            <a:solidFill>
              <a:srgbClr val="36E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76638" y="2837533"/>
            <a:ext cx="3238419" cy="592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00" spc="-33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MongoDB — Document Database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76638" y="3564259"/>
            <a:ext cx="3238419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fraud_analysis with claim ID, customer ID, risk score, risk level and reasons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127797" y="2708374"/>
            <a:ext cx="3454314" cy="1849934"/>
          </a:xfrm>
          <a:prstGeom prst="roundRect">
            <a:avLst>
              <a:gd name="adj" fmla="val 7414"/>
            </a:avLst>
          </a:prstGeom>
          <a:solidFill>
            <a:srgbClr val="102746"/>
          </a:solidFill>
          <a:ln w="6350">
            <a:solidFill>
              <a:srgbClr val="9B6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35744" y="2837533"/>
            <a:ext cx="3238419" cy="592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00" spc="-33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Qdrant — Vector Database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35744" y="3564259"/>
            <a:ext cx="3238419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insurance_documents with embeddings and metadata for semantic retrieval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09585" y="4710708"/>
            <a:ext cx="10972526" cy="1490067"/>
          </a:xfrm>
          <a:prstGeom prst="roundRect">
            <a:avLst>
              <a:gd name="adj" fmla="val 9205"/>
            </a:avLst>
          </a:prstGeom>
          <a:solidFill>
            <a:srgbClr val="102746"/>
          </a:solidFill>
          <a:ln w="6350">
            <a:solidFill>
              <a:srgbClr val="274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733" y="4770906"/>
            <a:ext cx="10909027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 POSTGRESQL ER 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5935" y="5187454"/>
            <a:ext cx="2625659" cy="1006971"/>
          </a:xfrm>
          <a:prstGeom prst="roundRect">
            <a:avLst>
              <a:gd name="adj" fmla="val 13621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3083" y="5251176"/>
            <a:ext cx="2511362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C5D3E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Customers</a:t>
            </a:r>
            <a:endParaRPr lang="en-US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customer_id</a:t>
            </a:r>
            <a:endParaRPr lang="en-US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email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3393990" y="5187454"/>
            <a:ext cx="2625659" cy="1006971"/>
          </a:xfrm>
          <a:prstGeom prst="roundRect">
            <a:avLst>
              <a:gd name="adj" fmla="val 13621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1139" y="5251176"/>
            <a:ext cx="2511362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C5D3E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Policies</a:t>
            </a:r>
            <a:endParaRPr lang="en-US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policy_id</a:t>
            </a:r>
            <a:endParaRPr lang="en-US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customer_id (FK)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172046" y="5187454"/>
            <a:ext cx="2625659" cy="1006971"/>
          </a:xfrm>
          <a:prstGeom prst="roundRect">
            <a:avLst>
              <a:gd name="adj" fmla="val 13621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9194" y="5251176"/>
            <a:ext cx="2511362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C5D3E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Claims</a:t>
            </a:r>
            <a:endParaRPr lang="en-US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claim_id</a:t>
            </a:r>
            <a:endParaRPr lang="en-US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policy_id (FK)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950101" y="5187454"/>
            <a:ext cx="2625659" cy="1006971"/>
          </a:xfrm>
          <a:prstGeom prst="roundRect">
            <a:avLst>
              <a:gd name="adj" fmla="val 13621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7250" y="5251176"/>
            <a:ext cx="2511362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C5D3E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Users</a:t>
            </a:r>
            <a:endParaRPr lang="en-US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user_id</a:t>
            </a:r>
            <a:endParaRPr lang="en-US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09585" y="6328569"/>
            <a:ext cx="11582110" cy="225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3F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database serves a different data-storage and retrieval requirement.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26440"/>
            <a:ext cx="11582110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761518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54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JWT and RBAC enforce secure access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423045"/>
            <a:ext cx="11582110" cy="310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F3F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Login → Auth Service → JWT Token → API Gateway → Role Validation → Authorized API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09585" y="2914055"/>
            <a:ext cx="3454314" cy="1014214"/>
          </a:xfrm>
          <a:prstGeom prst="roundRect">
            <a:avLst>
              <a:gd name="adj" fmla="val 13523"/>
            </a:avLst>
          </a:prstGeom>
          <a:solidFill>
            <a:srgbClr val="102746"/>
          </a:solidFill>
          <a:ln w="6350">
            <a:solidFill>
              <a:srgbClr val="36E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9130" y="3130177"/>
            <a:ext cx="3035224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Admin: administrative operations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4368691" y="2914055"/>
            <a:ext cx="3454314" cy="1014214"/>
          </a:xfrm>
          <a:prstGeom prst="roundRect">
            <a:avLst>
              <a:gd name="adj" fmla="val 13523"/>
            </a:avLst>
          </a:prstGeom>
          <a:solidFill>
            <a:srgbClr val="102746"/>
          </a:solidFill>
          <a:ln w="6350">
            <a:solidFill>
              <a:srgbClr val="36E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8235" y="3130177"/>
            <a:ext cx="3035224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Claim Officer: claim processing and fraud analysis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127797" y="2914055"/>
            <a:ext cx="3454314" cy="1014214"/>
          </a:xfrm>
          <a:prstGeom prst="roundRect">
            <a:avLst>
              <a:gd name="adj" fmla="val 13523"/>
            </a:avLst>
          </a:prstGeom>
          <a:solidFill>
            <a:srgbClr val="102746"/>
          </a:solidFill>
          <a:ln w="6350">
            <a:solidFill>
              <a:srgbClr val="36E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37341" y="3130177"/>
            <a:ext cx="3035224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Customer: submit and view own claims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09585" y="4122166"/>
            <a:ext cx="11582110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Token-based authentication • Role-based authorization • Server-side access enforcement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585" y="4600476"/>
            <a:ext cx="10972526" cy="834132"/>
          </a:xfrm>
          <a:prstGeom prst="roundRect">
            <a:avLst>
              <a:gd name="adj" fmla="val 16443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479" y="4875336"/>
            <a:ext cx="11150321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[Insert Login or JWT Authentication Screenshot]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5648"/>
            <a:ext cx="11582110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CLAIM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20726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54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Claims move from submission to a decision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3429000"/>
            <a:ext cx="1306182" cy="908447"/>
          </a:xfrm>
          <a:prstGeom prst="roundRect">
            <a:avLst>
              <a:gd name="adj" fmla="val 15098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5935" y="343535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15935" y="3728740"/>
            <a:ext cx="1293383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7" name="Text 5"/>
          <p:cNvSpPr/>
          <p:nvPr/>
        </p:nvSpPr>
        <p:spPr>
          <a:xfrm>
            <a:off x="615935" y="3887724"/>
            <a:ext cx="1293482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Login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220559" y="3429000"/>
            <a:ext cx="1306281" cy="908447"/>
          </a:xfrm>
          <a:prstGeom prst="roundRect">
            <a:avLst>
              <a:gd name="adj" fmla="val 15098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6909" y="343535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2226909" y="3728740"/>
            <a:ext cx="1293482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11" name="Text 9"/>
          <p:cNvSpPr/>
          <p:nvPr/>
        </p:nvSpPr>
        <p:spPr>
          <a:xfrm>
            <a:off x="2226909" y="3887724"/>
            <a:ext cx="1293582" cy="457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Submit Claim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831633" y="3429000"/>
            <a:ext cx="1306281" cy="908447"/>
          </a:xfrm>
          <a:prstGeom prst="roundRect">
            <a:avLst>
              <a:gd name="adj" fmla="val 15098"/>
            </a:avLst>
          </a:prstGeom>
          <a:solidFill>
            <a:srgbClr val="102746"/>
          </a:solidFill>
          <a:ln w="6350">
            <a:solidFill>
              <a:srgbClr val="9B6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7983" y="343535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3837983" y="3728740"/>
            <a:ext cx="1293482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15" name="Text 13"/>
          <p:cNvSpPr/>
          <p:nvPr/>
        </p:nvSpPr>
        <p:spPr>
          <a:xfrm>
            <a:off x="3837983" y="3887724"/>
            <a:ext cx="1293582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Validate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42707" y="3429000"/>
            <a:ext cx="1306182" cy="908447"/>
          </a:xfrm>
          <a:prstGeom prst="roundRect">
            <a:avLst>
              <a:gd name="adj" fmla="val 15098"/>
            </a:avLst>
          </a:prstGeom>
          <a:solidFill>
            <a:srgbClr val="102746"/>
          </a:solidFill>
          <a:ln w="6350">
            <a:solidFill>
              <a:srgbClr val="9B6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9057" y="343535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449057" y="3728740"/>
            <a:ext cx="1293383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49057" y="3887724"/>
            <a:ext cx="1293482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053681" y="3429000"/>
            <a:ext cx="1306281" cy="908447"/>
          </a:xfrm>
          <a:prstGeom prst="roundRect">
            <a:avLst>
              <a:gd name="adj" fmla="val 15098"/>
            </a:avLst>
          </a:prstGeom>
          <a:solidFill>
            <a:srgbClr val="102746"/>
          </a:solidFill>
          <a:ln w="6350">
            <a:solidFill>
              <a:srgbClr val="FF9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0031" y="343535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05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060031" y="3728740"/>
            <a:ext cx="1293482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23" name="Text 21"/>
          <p:cNvSpPr/>
          <p:nvPr/>
        </p:nvSpPr>
        <p:spPr>
          <a:xfrm>
            <a:off x="7060031" y="3887724"/>
            <a:ext cx="1293582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Kafka Event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664755" y="3429000"/>
            <a:ext cx="1306281" cy="908447"/>
          </a:xfrm>
          <a:prstGeom prst="roundRect">
            <a:avLst>
              <a:gd name="adj" fmla="val 15098"/>
            </a:avLst>
          </a:prstGeom>
          <a:solidFill>
            <a:srgbClr val="102746"/>
          </a:solidFill>
          <a:ln w="6350">
            <a:solidFill>
              <a:srgbClr val="274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71105" y="343535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06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8671105" y="3728740"/>
            <a:ext cx="1293482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27" name="Text 25"/>
          <p:cNvSpPr/>
          <p:nvPr/>
        </p:nvSpPr>
        <p:spPr>
          <a:xfrm>
            <a:off x="8671105" y="3887724"/>
            <a:ext cx="1293582" cy="457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Officer Review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0275829" y="3429000"/>
            <a:ext cx="1306182" cy="908447"/>
          </a:xfrm>
          <a:prstGeom prst="roundRect">
            <a:avLst>
              <a:gd name="adj" fmla="val 15098"/>
            </a:avLst>
          </a:prstGeom>
          <a:solidFill>
            <a:srgbClr val="102746"/>
          </a:solidFill>
          <a:ln w="6350">
            <a:solidFill>
              <a:srgbClr val="36E0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82179" y="343535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07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0282179" y="3728740"/>
            <a:ext cx="1293383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282179" y="3887724"/>
            <a:ext cx="1293482" cy="457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Processed / Rejected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09585" y="4566047"/>
            <a:ext cx="4145156" cy="1323578"/>
          </a:xfrm>
          <a:prstGeom prst="roundRect">
            <a:avLst>
              <a:gd name="adj" fmla="val 10363"/>
            </a:avLst>
          </a:prstGeom>
          <a:solidFill>
            <a:srgbClr val="102746"/>
          </a:solidFill>
          <a:ln w="6350">
            <a:solidFill>
              <a:srgbClr val="36E0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5935" y="4575445"/>
            <a:ext cx="4138807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5935" y="4909443"/>
            <a:ext cx="983630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35" name="Text 33"/>
          <p:cNvSpPr/>
          <p:nvPr/>
        </p:nvSpPr>
        <p:spPr>
          <a:xfrm>
            <a:off x="741642" y="4981500"/>
            <a:ext cx="1341801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704337" y="4909443"/>
            <a:ext cx="1459868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37" name="Text 35"/>
          <p:cNvSpPr/>
          <p:nvPr/>
        </p:nvSpPr>
        <p:spPr>
          <a:xfrm>
            <a:off x="1830044" y="4981500"/>
            <a:ext cx="181803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 REVIEW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68978" y="4909443"/>
            <a:ext cx="1182162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39" name="Text 37"/>
          <p:cNvSpPr/>
          <p:nvPr/>
        </p:nvSpPr>
        <p:spPr>
          <a:xfrm>
            <a:off x="3394685" y="4981500"/>
            <a:ext cx="1360057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PROCESSED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5935" y="5332611"/>
            <a:ext cx="1047128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41" name="Text 39"/>
          <p:cNvSpPr/>
          <p:nvPr/>
        </p:nvSpPr>
        <p:spPr>
          <a:xfrm>
            <a:off x="741642" y="5404668"/>
            <a:ext cx="140529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REJECTED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059434" y="4566047"/>
            <a:ext cx="3109041" cy="1323578"/>
          </a:xfrm>
          <a:prstGeom prst="roundRect">
            <a:avLst>
              <a:gd name="adj" fmla="val 10363"/>
            </a:avLst>
          </a:prstGeom>
          <a:solidFill>
            <a:srgbClr val="102746"/>
          </a:solidFill>
          <a:ln w="6350">
            <a:solidFill>
              <a:srgbClr val="274A7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65784" y="4578969"/>
            <a:ext cx="3096341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Authorized staff can process or reject claims through the dashboard.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8473168" y="4566047"/>
            <a:ext cx="3108942" cy="1323578"/>
          </a:xfrm>
          <a:prstGeom prst="roundRect">
            <a:avLst>
              <a:gd name="adj" fmla="val 10363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79518" y="4572397"/>
            <a:ext cx="3096242" cy="1310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[Insert Dashboard / Claim Submission Screenshot]</a:t>
            </a:r>
            <a:endParaRPr lang="en-US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[Insert Processed or Rejected Claim Screenshot]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11048"/>
            <a:ext cx="4279793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FRAUD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46126"/>
            <a:ext cx="4025799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54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Fraud analysis is rule-based, not machine learning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470249"/>
            <a:ext cx="4025799" cy="607814"/>
          </a:xfrm>
          <a:prstGeom prst="roundRect">
            <a:avLst>
              <a:gd name="adj" fmla="val 22566"/>
            </a:avLst>
          </a:prstGeom>
          <a:solidFill>
            <a:srgbClr val="102746"/>
          </a:solidFill>
          <a:ln w="6350">
            <a:solidFill>
              <a:srgbClr val="FF9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5935" y="2483171"/>
            <a:ext cx="1236036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Claim amount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004367" y="2483171"/>
            <a:ext cx="1236135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Previous claims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392899" y="2483171"/>
            <a:ext cx="1236135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Days after policy start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585" y="3287836"/>
            <a:ext cx="4025799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Rule-based fraud detection; no ML model implemented.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524362" y="508000"/>
            <a:ext cx="967656" cy="1594842"/>
          </a:xfrm>
          <a:prstGeom prst="roundRect">
            <a:avLst>
              <a:gd name="adj" fmla="val 14174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0712" y="51435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530712" y="807740"/>
            <a:ext cx="954857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12" name="Text 10"/>
          <p:cNvSpPr/>
          <p:nvPr/>
        </p:nvSpPr>
        <p:spPr>
          <a:xfrm>
            <a:off x="5530712" y="966724"/>
            <a:ext cx="954957" cy="457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Claim Data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796810" y="508000"/>
            <a:ext cx="967755" cy="1594842"/>
          </a:xfrm>
          <a:prstGeom prst="roundRect">
            <a:avLst>
              <a:gd name="adj" fmla="val 14173"/>
            </a:avLst>
          </a:prstGeom>
          <a:solidFill>
            <a:srgbClr val="102746"/>
          </a:solidFill>
          <a:ln w="6350">
            <a:solidFill>
              <a:srgbClr val="9B6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60" y="51435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803160" y="807740"/>
            <a:ext cx="955056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03160" y="966724"/>
            <a:ext cx="955056" cy="457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Fraud Service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69358" y="508000"/>
            <a:ext cx="967656" cy="1594842"/>
          </a:xfrm>
          <a:prstGeom prst="roundRect">
            <a:avLst>
              <a:gd name="adj" fmla="val 14174"/>
            </a:avLst>
          </a:prstGeom>
          <a:solidFill>
            <a:srgbClr val="102746"/>
          </a:solidFill>
          <a:ln w="6350">
            <a:solidFill>
              <a:srgbClr val="FF9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75708" y="51435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075708" y="807740"/>
            <a:ext cx="954857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20" name="Text 18"/>
          <p:cNvSpPr/>
          <p:nvPr/>
        </p:nvSpPr>
        <p:spPr>
          <a:xfrm>
            <a:off x="8075708" y="966724"/>
            <a:ext cx="954957" cy="1143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Rule-Based Risk Calculation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341807" y="508000"/>
            <a:ext cx="967755" cy="1594842"/>
          </a:xfrm>
          <a:prstGeom prst="roundRect">
            <a:avLst>
              <a:gd name="adj" fmla="val 14173"/>
            </a:avLst>
          </a:prstGeom>
          <a:solidFill>
            <a:srgbClr val="102746"/>
          </a:solidFill>
          <a:ln w="6350">
            <a:solidFill>
              <a:srgbClr val="36E0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48157" y="51435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9348157" y="807740"/>
            <a:ext cx="955056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24" name="Text 22"/>
          <p:cNvSpPr/>
          <p:nvPr/>
        </p:nvSpPr>
        <p:spPr>
          <a:xfrm>
            <a:off x="9348157" y="966724"/>
            <a:ext cx="955056" cy="1143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Risk Score + Risk Level + Reasons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0614355" y="508000"/>
            <a:ext cx="967656" cy="1594842"/>
          </a:xfrm>
          <a:prstGeom prst="roundRect">
            <a:avLst>
              <a:gd name="adj" fmla="val 14174"/>
            </a:avLst>
          </a:prstGeom>
          <a:solidFill>
            <a:srgbClr val="102746"/>
          </a:solidFill>
          <a:ln w="6350">
            <a:solidFill>
              <a:srgbClr val="36E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20705" y="51435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05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0620705" y="807740"/>
            <a:ext cx="954857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620705" y="966724"/>
            <a:ext cx="954957" cy="457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MongoDB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524362" y="2331442"/>
            <a:ext cx="3260048" cy="944860"/>
          </a:xfrm>
          <a:prstGeom prst="roundRect">
            <a:avLst>
              <a:gd name="adj" fmla="val 14516"/>
            </a:avLst>
          </a:prstGeom>
          <a:solidFill>
            <a:srgbClr val="102746"/>
          </a:solidFill>
          <a:ln w="6350">
            <a:solidFill>
              <a:srgbClr val="FF9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0712" y="2340840"/>
            <a:ext cx="3253698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MONGODB EVIDENCE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0712" y="2681411"/>
            <a:ext cx="3247348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MongoDB stores the resulting fraud-analysis documents.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9089103" y="2331442"/>
            <a:ext cx="2493007" cy="944860"/>
          </a:xfrm>
          <a:prstGeom prst="roundRect">
            <a:avLst>
              <a:gd name="adj" fmla="val 14516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5453" y="2344364"/>
            <a:ext cx="2480307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[Insert Fraud Analysis Result Screenshot]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5648"/>
            <a:ext cx="11582110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EVENT-DRIVEN COMMUNICATION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20726"/>
            <a:ext cx="10972526" cy="9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54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Kafka decouples services for real-time notifications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3429000"/>
            <a:ext cx="2514537" cy="908447"/>
          </a:xfrm>
          <a:prstGeom prst="roundRect">
            <a:avLst>
              <a:gd name="adj" fmla="val 15098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5935" y="343535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15935" y="3728740"/>
            <a:ext cx="2501837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7" name="Text 5"/>
          <p:cNvSpPr/>
          <p:nvPr/>
        </p:nvSpPr>
        <p:spPr>
          <a:xfrm>
            <a:off x="615935" y="3887724"/>
            <a:ext cx="250183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Claim Service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28914" y="3429000"/>
            <a:ext cx="2514537" cy="908447"/>
          </a:xfrm>
          <a:prstGeom prst="roundRect">
            <a:avLst>
              <a:gd name="adj" fmla="val 15098"/>
            </a:avLst>
          </a:prstGeom>
          <a:solidFill>
            <a:srgbClr val="102746"/>
          </a:solidFill>
          <a:ln w="6350">
            <a:solidFill>
              <a:srgbClr val="9B6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5264" y="343535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3435264" y="3728740"/>
            <a:ext cx="2501837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11" name="Text 9"/>
          <p:cNvSpPr/>
          <p:nvPr/>
        </p:nvSpPr>
        <p:spPr>
          <a:xfrm>
            <a:off x="3435264" y="3887724"/>
            <a:ext cx="250183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CLAIM_CREATED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48244" y="3429000"/>
            <a:ext cx="2514537" cy="908447"/>
          </a:xfrm>
          <a:prstGeom prst="roundRect">
            <a:avLst>
              <a:gd name="adj" fmla="val 15098"/>
            </a:avLst>
          </a:prstGeom>
          <a:solidFill>
            <a:srgbClr val="102746"/>
          </a:solidFill>
          <a:ln w="6350">
            <a:solidFill>
              <a:srgbClr val="9B6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594" y="343535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254594" y="3728740"/>
            <a:ext cx="2501837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594" y="3887724"/>
            <a:ext cx="2501837" cy="457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claim-notifications topic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067573" y="3429000"/>
            <a:ext cx="2514537" cy="908447"/>
          </a:xfrm>
          <a:prstGeom prst="roundRect">
            <a:avLst>
              <a:gd name="adj" fmla="val 15098"/>
            </a:avLst>
          </a:prstGeom>
          <a:solidFill>
            <a:srgbClr val="102746"/>
          </a:solidFill>
          <a:ln w="6350">
            <a:solidFill>
              <a:srgbClr val="36E0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3923" y="343535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073923" y="3728740"/>
            <a:ext cx="2501837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19" name="Text 17"/>
          <p:cNvSpPr/>
          <p:nvPr/>
        </p:nvSpPr>
        <p:spPr>
          <a:xfrm>
            <a:off x="9073923" y="3887724"/>
            <a:ext cx="250183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Notification Service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09585" y="4591447"/>
            <a:ext cx="5333867" cy="1026021"/>
          </a:xfrm>
          <a:prstGeom prst="roundRect">
            <a:avLst>
              <a:gd name="adj" fmla="val 13368"/>
            </a:avLst>
          </a:prstGeom>
          <a:solidFill>
            <a:srgbClr val="102746"/>
          </a:solidFill>
          <a:ln w="6350">
            <a:solidFill>
              <a:srgbClr val="274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935" y="4597797"/>
            <a:ext cx="5321167" cy="1013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Gateway • Auth • Claim • Fraud • Notification • RAG</a:t>
            </a:r>
            <a:endParaRPr lang="en-US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Compose coordinates the project's containerized infrastructure.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248244" y="4591447"/>
            <a:ext cx="5333867" cy="1026021"/>
          </a:xfrm>
          <a:prstGeom prst="roundRect">
            <a:avLst>
              <a:gd name="adj" fmla="val 13368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594" y="4604369"/>
            <a:ext cx="5321167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Modular services • Event-driven communication • Separation of responsibilities • Easier deployment and maintenance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609585" y="5846068"/>
            <a:ext cx="5333867" cy="310257"/>
          </a:xfrm>
          <a:prstGeom prst="roundRect">
            <a:avLst>
              <a:gd name="adj" fmla="val 44207"/>
            </a:avLst>
          </a:prstGeom>
          <a:solidFill>
            <a:srgbClr val="102746"/>
          </a:solidFill>
          <a:ln w="6350">
            <a:solidFill>
              <a:srgbClr val="FF9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935" y="5858990"/>
            <a:ext cx="5327517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[Insert Kafka Event Terminal Screenshot]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6248244" y="5846068"/>
            <a:ext cx="5333867" cy="310257"/>
          </a:xfrm>
          <a:prstGeom prst="roundRect">
            <a:avLst>
              <a:gd name="adj" fmla="val 44207"/>
            </a:avLst>
          </a:prstGeom>
          <a:solidFill>
            <a:srgbClr val="102746"/>
          </a:solidFill>
          <a:ln w="6350">
            <a:solidFill>
              <a:srgbClr val="36E0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594" y="5858990"/>
            <a:ext cx="5327517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[Insert Running Services or Docker Screenshot]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5648"/>
            <a:ext cx="11582110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RETRIEVAL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20726"/>
            <a:ext cx="10972526" cy="9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54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RAG retrieves relevant documents without LLM answer generation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943225"/>
            <a:ext cx="1950592" cy="908447"/>
          </a:xfrm>
          <a:prstGeom prst="roundRect">
            <a:avLst>
              <a:gd name="adj" fmla="val 15098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5935" y="2949575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15935" y="3242965"/>
            <a:ext cx="1937793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7" name="Text 5"/>
          <p:cNvSpPr/>
          <p:nvPr/>
        </p:nvSpPr>
        <p:spPr>
          <a:xfrm>
            <a:off x="615935" y="3401949"/>
            <a:ext cx="1937892" cy="457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Insurance Documents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64969" y="2943225"/>
            <a:ext cx="1950691" cy="908447"/>
          </a:xfrm>
          <a:prstGeom prst="roundRect">
            <a:avLst>
              <a:gd name="adj" fmla="val 15098"/>
            </a:avLst>
          </a:prstGeom>
          <a:solidFill>
            <a:srgbClr val="102746"/>
          </a:solidFill>
          <a:ln w="6350">
            <a:solidFill>
              <a:srgbClr val="9B6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1319" y="2949575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2871319" y="3242965"/>
            <a:ext cx="1937991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11" name="Text 9"/>
          <p:cNvSpPr/>
          <p:nvPr/>
        </p:nvSpPr>
        <p:spPr>
          <a:xfrm>
            <a:off x="2871319" y="3401949"/>
            <a:ext cx="1937991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FastEmbed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20452" y="2943225"/>
            <a:ext cx="1950691" cy="908447"/>
          </a:xfrm>
          <a:prstGeom prst="roundRect">
            <a:avLst>
              <a:gd name="adj" fmla="val 15098"/>
            </a:avLst>
          </a:prstGeom>
          <a:solidFill>
            <a:srgbClr val="102746"/>
          </a:solidFill>
          <a:ln w="6350">
            <a:solidFill>
              <a:srgbClr val="9B6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6802" y="2949575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126802" y="3242965"/>
            <a:ext cx="1937991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15" name="Text 13"/>
          <p:cNvSpPr/>
          <p:nvPr/>
        </p:nvSpPr>
        <p:spPr>
          <a:xfrm>
            <a:off x="5126802" y="3401949"/>
            <a:ext cx="1937991" cy="457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BAAI/bge-small-en-v1.5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75936" y="2943225"/>
            <a:ext cx="1950691" cy="908447"/>
          </a:xfrm>
          <a:prstGeom prst="roundRect">
            <a:avLst>
              <a:gd name="adj" fmla="val 15098"/>
            </a:avLst>
          </a:prstGeom>
          <a:solidFill>
            <a:srgbClr val="102746"/>
          </a:solidFill>
          <a:ln w="6350">
            <a:solidFill>
              <a:srgbClr val="36E0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82286" y="2949575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382286" y="3242965"/>
            <a:ext cx="1937991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82286" y="3401949"/>
            <a:ext cx="1937991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Qdrant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631419" y="2943225"/>
            <a:ext cx="1950691" cy="908447"/>
          </a:xfrm>
          <a:prstGeom prst="roundRect">
            <a:avLst>
              <a:gd name="adj" fmla="val 15098"/>
            </a:avLst>
          </a:prstGeom>
          <a:solidFill>
            <a:srgbClr val="102746"/>
          </a:solidFill>
          <a:ln w="6350">
            <a:solidFill>
              <a:srgbClr val="36E0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37769" y="2949575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19D3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05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637769" y="3242965"/>
            <a:ext cx="1937991" cy="19050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23" name="Text 21"/>
          <p:cNvSpPr/>
          <p:nvPr/>
        </p:nvSpPr>
        <p:spPr>
          <a:xfrm>
            <a:off x="9637769" y="3401949"/>
            <a:ext cx="1937991" cy="457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2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Relevant Documents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09585" y="4080272"/>
            <a:ext cx="5333867" cy="1807071"/>
          </a:xfrm>
          <a:prstGeom prst="roundRect">
            <a:avLst>
              <a:gd name="adj" fmla="val 7590"/>
            </a:avLst>
          </a:prstGeom>
          <a:solidFill>
            <a:srgbClr val="102746"/>
          </a:solidFill>
          <a:ln w="6350">
            <a:solidFill>
              <a:srgbClr val="274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935" y="4089670"/>
            <a:ext cx="5327517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 SET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5935" y="4423668"/>
            <a:ext cx="1815261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27" name="Text 25"/>
          <p:cNvSpPr/>
          <p:nvPr/>
        </p:nvSpPr>
        <p:spPr>
          <a:xfrm>
            <a:off x="741642" y="4495725"/>
            <a:ext cx="2173432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CLAIM PROCESSING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35968" y="4423668"/>
            <a:ext cx="1804545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29" name="Text 27"/>
          <p:cNvSpPr/>
          <p:nvPr/>
        </p:nvSpPr>
        <p:spPr>
          <a:xfrm>
            <a:off x="2661675" y="4495725"/>
            <a:ext cx="2162716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FRAUD INDICATORS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5935" y="4846836"/>
            <a:ext cx="1500249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31" name="Text 29"/>
          <p:cNvSpPr/>
          <p:nvPr/>
        </p:nvSpPr>
        <p:spPr>
          <a:xfrm>
            <a:off x="741642" y="4918893"/>
            <a:ext cx="1858420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HEALTH CLAIMS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220956" y="4846836"/>
            <a:ext cx="1561069" cy="318393"/>
          </a:xfrm>
          <a:prstGeom prst="roundRect">
            <a:avLst>
              <a:gd name="adj" fmla="val 22113"/>
            </a:avLst>
          </a:prstGeom>
          <a:solidFill>
            <a:srgbClr val="003E4D"/>
          </a:solidFill>
          <a:ln/>
        </p:spPr>
      </p:sp>
      <p:sp>
        <p:nvSpPr>
          <p:cNvPr id="33" name="Text 31"/>
          <p:cNvSpPr/>
          <p:nvPr/>
        </p:nvSpPr>
        <p:spPr>
          <a:xfrm>
            <a:off x="2346663" y="4918893"/>
            <a:ext cx="191923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VEHICLE CLAIMS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5935" y="5292451"/>
            <a:ext cx="5321167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retrieval; no LLM answer generation implemented.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6248244" y="4080272"/>
            <a:ext cx="5333867" cy="1807071"/>
          </a:xfrm>
          <a:prstGeom prst="roundRect">
            <a:avLst>
              <a:gd name="adj" fmla="val 7590"/>
            </a:avLst>
          </a:prstGeom>
          <a:solidFill>
            <a:srgbClr val="102746"/>
          </a:solidFill>
          <a:ln w="6350">
            <a:solidFill>
              <a:srgbClr val="19D3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594" y="4086622"/>
            <a:ext cx="5321167" cy="1013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 authentication and RBAC • Claim creation and status updates • Fraud analysis and MongoDB storage</a:t>
            </a:r>
            <a:endParaRPr lang="en-US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Kafka notification consumption • RAG semantic search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609585" y="6115943"/>
            <a:ext cx="5333867" cy="310257"/>
          </a:xfrm>
          <a:prstGeom prst="roundRect">
            <a:avLst>
              <a:gd name="adj" fmla="val 44207"/>
            </a:avLst>
          </a:prstGeom>
          <a:solidFill>
            <a:srgbClr val="102746"/>
          </a:solidFill>
          <a:ln w="6350">
            <a:solidFill>
              <a:srgbClr val="9B6C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5935" y="6128865"/>
            <a:ext cx="5327517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[Insert RAG Search Result Screenshot]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6248244" y="6115943"/>
            <a:ext cx="5333867" cy="310257"/>
          </a:xfrm>
          <a:prstGeom prst="roundRect">
            <a:avLst>
              <a:gd name="adj" fmla="val 44207"/>
            </a:avLst>
          </a:prstGeom>
          <a:solidFill>
            <a:srgbClr val="102746"/>
          </a:solidFill>
          <a:ln w="6350">
            <a:solidFill>
              <a:srgbClr val="36E0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594" y="6128865"/>
            <a:ext cx="5327517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[Insert Final Dashboard Screenshot]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60703" cy="6894612"/>
          </a:xfrm>
          <a:prstGeom prst="roundRect">
            <a:avLst>
              <a:gd name="adj" fmla="val 3553"/>
            </a:avLst>
          </a:prstGeom>
          <a:solidFill>
            <a:srgbClr val="102746"/>
          </a:solidFill>
          <a:ln w="6350">
            <a:solidFill>
              <a:srgbClr val="36E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736" y="441198"/>
            <a:ext cx="3320967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ACHIEVEMENTS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9736" y="767894"/>
            <a:ext cx="3060623" cy="1615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100" dirty="0">
                <a:solidFill>
                  <a:srgbClr val="F3F7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Secure • Scalable • Intelligent • Real-Time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9736" y="2561927"/>
            <a:ext cx="3060623" cy="3894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35280" indent="-335280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Integrated relational, document and vector databases</a:t>
            </a:r>
            <a:endParaRPr lang="en-US" sz="1650" dirty="0"/>
          </a:p>
          <a:p>
            <a:pPr algn="l" marL="335280" indent="-335280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 JWT and RBAC</a:t>
            </a:r>
            <a:endParaRPr lang="en-US" sz="1650" dirty="0"/>
          </a:p>
          <a:p>
            <a:pPr algn="l" marL="335280" indent="-335280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claim workflow</a:t>
            </a:r>
            <a:endParaRPr lang="en-US" sz="1650" dirty="0"/>
          </a:p>
          <a:p>
            <a:pPr algn="l" marL="335280" indent="-335280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Rule-based fraud-risk insights</a:t>
            </a:r>
            <a:endParaRPr lang="en-US" sz="1650" dirty="0"/>
          </a:p>
          <a:p>
            <a:pPr algn="l" marL="335280" indent="-335280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Kafka event notifications</a:t>
            </a:r>
            <a:endParaRPr lang="en-US" sz="1650" dirty="0"/>
          </a:p>
          <a:p>
            <a:pPr algn="l" marL="335280" indent="-335280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insurance-document search</a:t>
            </a:r>
            <a:endParaRPr lang="en-US" sz="1650" dirty="0"/>
          </a:p>
          <a:p>
            <a:pPr algn="l" marL="335280" indent="-335280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Microservice-based architecture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165496" y="0"/>
            <a:ext cx="3860703" cy="6894612"/>
          </a:xfrm>
          <a:prstGeom prst="roundRect">
            <a:avLst>
              <a:gd name="adj" fmla="val 3553"/>
            </a:avLst>
          </a:prstGeom>
          <a:solidFill>
            <a:srgbClr val="102746"/>
          </a:solidFill>
          <a:ln w="6350">
            <a:solidFill>
              <a:srgbClr val="FF9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25839" y="441198"/>
            <a:ext cx="3600360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25839" y="841871"/>
            <a:ext cx="3340016" cy="1298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35280" indent="-335280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Rule-based fraud detection</a:t>
            </a:r>
            <a:endParaRPr lang="en-US" sz="1650" dirty="0"/>
          </a:p>
          <a:p>
            <a:pPr algn="l" marL="335280" indent="-335280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Limited historical fraud inputs</a:t>
            </a:r>
            <a:endParaRPr lang="en-US" sz="1650" dirty="0"/>
          </a:p>
          <a:p>
            <a:pPr algn="l" marL="335280" indent="-335280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retrieval without LLM generation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330992" y="0"/>
            <a:ext cx="3860703" cy="6894612"/>
          </a:xfrm>
          <a:prstGeom prst="roundRect">
            <a:avLst>
              <a:gd name="adj" fmla="val 3553"/>
            </a:avLst>
          </a:prstGeom>
          <a:solidFill>
            <a:srgbClr val="102746"/>
          </a:solidFill>
          <a:ln w="6350">
            <a:solidFill>
              <a:srgbClr val="9B6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1335" y="441198"/>
            <a:ext cx="3600360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144" kern="100" dirty="0">
                <a:solidFill>
                  <a:srgbClr val="19D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1335" y="841871"/>
            <a:ext cx="3060623" cy="1947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35280" indent="-335280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ML-based fraud detection</a:t>
            </a:r>
            <a:endParaRPr lang="en-US" sz="1650" dirty="0"/>
          </a:p>
          <a:p>
            <a:pPr algn="l" marL="335280" indent="-335280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historical claim analytics</a:t>
            </a:r>
            <a:endParaRPr lang="en-US" sz="1650" dirty="0"/>
          </a:p>
          <a:p>
            <a:pPr algn="l" marL="335280" indent="-335280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LLM-powered RAG</a:t>
            </a:r>
            <a:endParaRPr lang="en-US" sz="1650" dirty="0"/>
          </a:p>
          <a:p>
            <a:pPr algn="l" marL="335280" indent="-335280">
              <a:lnSpc>
                <a:spcPct val="118000"/>
              </a:lnSpc>
              <a:buSzPct val="100000"/>
              <a:buChar char="•"/>
            </a:pPr>
            <a:r>
              <a:rPr lang="en-US" sz="165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deployment and monitoring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0" y="7199412"/>
            <a:ext cx="12191695" cy="754757"/>
          </a:xfrm>
          <a:prstGeom prst="rect">
            <a:avLst/>
          </a:prstGeom>
          <a:solidFill>
            <a:srgbClr val="19D3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799" y="7434584"/>
            <a:ext cx="12090098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Insurance Claims &amp; Fraud Analytics | DBMS Project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2026-10-09T07:53:00Z</dcterms:created>
  <dcterms:modified xsi:type="dcterms:W3CDTF">2026-10-09T07:53:00Z</dcterms:modified>
</cp:coreProperties>
</file>